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228600" cy="2377440"/>
          </a:xfrm>
          <a:prstGeom prst="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Módulo Gastronomía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6E3F0"/>
                </a:solidFill>
                <a:latin typeface="Calibri"/>
              </a:rPr>
              <a:t>Desarrollo completo · Facturación, turnos, gerencia, descuentos y fórmulas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C0D8"/>
                </a:solidFill>
                <a:latin typeface="Calibri"/>
              </a:rPr>
              <a:t>Anita ERP  · 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097280"/>
            <a:ext cx="438912" cy="43891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16128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Visión del módulo y mapa de lo nuevo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27631"/>
            <a:ext cx="438912" cy="43891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39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91639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Flujo operativo del día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57984"/>
            <a:ext cx="438912" cy="43891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21991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21991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Jornada y turnos (apertura, parcial, definitivo)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88335"/>
            <a:ext cx="438912" cy="43891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52343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52343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Facturación POS (salón, fiscal, cobranza)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18687"/>
            <a:ext cx="438912" cy="43891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82695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82695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Informe de gerencia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749039"/>
            <a:ext cx="438912" cy="43891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13048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1304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Reportes: descuentos, analítico, ventas, insumos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279392"/>
            <a:ext cx="438912" cy="438912"/>
          </a:xfrm>
          <a:prstGeom prst="ellipse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434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Fórmulas de artículos (costos y stock)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809744"/>
            <a:ext cx="438912" cy="438912"/>
          </a:xfrm>
          <a:prstGeom prst="ellipse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73752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737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Waitry, canjes, viandas, vending, caja/contable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340096"/>
            <a:ext cx="438912" cy="438912"/>
          </a:xfrm>
          <a:prstGeom prst="ellipse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04104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40410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7202A"/>
                </a:solidFill>
                <a:latin typeface="Calibri"/>
              </a:rPr>
              <a:t>Resumen de lo construido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Mapa de lo nuevo — valor de negocio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37027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5B6"/>
                </a:solidFill>
                <a:latin typeface="Calibri"/>
              </a:rPr>
              <a:t>Gobierno diario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Jornada por empresa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Turno por terminal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Arqueo y PDFs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Conciliación medios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Saneamiento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8235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8235" y="1143000"/>
            <a:ext cx="2737027" cy="91440"/>
          </a:xfrm>
          <a:prstGeom prst="rect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7963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665A"/>
                </a:solidFill>
                <a:latin typeface="Calibri"/>
              </a:rPr>
              <a:t>Facturación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963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POS mesas/cuentas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Fiscal ARCA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Cobranza multi-medio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Descuentos / NC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Sync Anita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143000"/>
            <a:ext cx="2737027" cy="91440"/>
          </a:xfrm>
          <a:prstGeom prst="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911"/>
                </a:solidFill>
                <a:latin typeface="Calibri"/>
              </a:rPr>
              <a:t>Gerencia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Informe gerente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Reporte descuentos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Analítico margen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Ventas / insumos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Facturas del 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627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627" y="1143000"/>
            <a:ext cx="2737027" cy="91440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355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844E"/>
                </a:solidFill>
                <a:latin typeface="Calibri"/>
              </a:rPr>
              <a:t>Costos /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355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Fórmulas / recetas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Opcionales plato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Explosión insumos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Costo vs PVP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Flujo mínimo operativo del día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864309" cy="301752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0"/>
            <a:ext cx="171800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606040"/>
            <a:ext cx="171800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Abrir jornada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657600"/>
            <a:ext cx="171800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Empresa / día
de turno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0069" y="1828800"/>
            <a:ext cx="1864309" cy="3017520"/>
          </a:xfrm>
          <a:prstGeom prst="round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3221" y="2011680"/>
            <a:ext cx="171800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3221" y="2606040"/>
            <a:ext cx="171800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Habilitar turno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3221" y="3657600"/>
            <a:ext cx="171800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Por cada PC
con fondo caja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5818" y="1828800"/>
            <a:ext cx="1864309" cy="30175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8970" y="2011680"/>
            <a:ext cx="171800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8970" y="2606040"/>
            <a:ext cx="171800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Facturar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8970" y="3657600"/>
            <a:ext cx="171800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Mesas, cuentas,
Waitry, canjes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1567" y="1828800"/>
            <a:ext cx="1864309" cy="301752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4719" y="2011680"/>
            <a:ext cx="171800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4719" y="2606040"/>
            <a:ext cx="171800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Cierre parcial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4719" y="3657600"/>
            <a:ext cx="171800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Arqueo intermedio
(opcional)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1828800"/>
            <a:ext cx="1864309" cy="30175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0468" y="2011680"/>
            <a:ext cx="171800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0468" y="2606040"/>
            <a:ext cx="171800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Cierre turno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0468" y="3657600"/>
            <a:ext cx="171800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Definitivo +
conciliación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3066" y="1828800"/>
            <a:ext cx="1864309" cy="3017520"/>
          </a:xfrm>
          <a:prstGeom prst="roundRect">
            <a:avLst/>
          </a:prstGeom>
          <a:solidFill>
            <a:srgbClr val="6C3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26218" y="2011680"/>
            <a:ext cx="171800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6218" y="2606040"/>
            <a:ext cx="171800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Cerrar jornada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26218" y="3657600"/>
            <a:ext cx="171800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Informe Z totem
+ rendición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D6D7E"/>
                </a:solidFill>
                <a:latin typeface="Calibri"/>
              </a:rPr>
              <a:t>Consultas del día: Facturas del día · Cierres · Informe gerente · Descuentos · Artículos vendidos · Saneamiento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911"/>
                </a:solidFill>
                <a:latin typeface="Calibri"/>
              </a:rPr>
              <a:t>SECCIÓN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Jornada y turnos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3F0"/>
                </a:solidFill>
                <a:latin typeface="Calibri"/>
              </a:rPr>
              <a:t>Apertura, habilitación, parcial, definitivo, central y saneamiento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Tres niveles temporales (concepto clave)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Jornada — alcance empresa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Día de turno abierto para toda la empresa (una sola abierta).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Define la fecha de jornada en los comprobantes.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Turno operativo — alcance terminal (PC)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Ventana de caja habilitada en un equipo concreto.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Cada PC habilita, hace parciales y cierra su turno.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Cuenta gastronómica — mesa o cuenta libre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Consumos antes de emitir factura (abierta / cerrada / facturada).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Fecha de factura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Siempre el día calendario real; puede diferir de la jornada si el turno cruza medianoche.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Jornada gastronómica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577840" cy="50292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Calibri"/>
              </a:rPr>
              <a:t>Apertura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Ventas → Gastronomía → Jornada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Empresa + fecha de jornada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Sin jornada abierta no se factura (config)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No abre si quedan turnos sin cerrar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Observación opcional al abrir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577840" cy="50292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801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665A"/>
                </a:solidFill>
                <a:latin typeface="Calibri"/>
              </a:rPr>
              <a:t>Cierre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Todos los turnos deben estar cerrados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Sin cuentas abiertas con consumos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Conciliación Informe Z Waitry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Proceso contable / rendición Anita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PDF ingresos tótem + historial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Anular último cierre (si no hay rendición)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Habilitación de turno y cierres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Habilitar en cada PC: turno maestro (mañana/tarde/noche) + monto de caja.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Panel de estado: totales, cuentas pendientes, conciliación por medio / NC / invitaciones.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Cierre parcial: arqueo intermedio con PDF; el turno sigue abierto para vender.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Cierre definitivo: arqueo por medio, NC, invitaciones; PDF + informe por mozo.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Desde el POS: botones de parcial / cerrar turno en la barra del facturador.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Cierre central: supervisión remota de varias terminales.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Histórico de cierres: canjes, tickets tarjeta, corrección de arqueo (permiso).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Saneamiento: diagnóstico, cierre remoto, cuentas pendientes, PDF diagnóstico.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Rutas: jornada · habilitacion-turno · cierres-turno · cierre-turno-central · saneamiento-turno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Después del cierre — Caja y Contable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3716426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16426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25880"/>
            <a:ext cx="349697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5B6"/>
                </a:solidFill>
                <a:latin typeface="Calibri"/>
              </a:rPr>
              <a:t>Rendición caja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349697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Rendir turnos/jornadas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Sync Anita rendgastro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caja/rendiciongastronomia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7634" y="1143000"/>
            <a:ext cx="3716426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37634" y="1143000"/>
            <a:ext cx="3716426" cy="91440"/>
          </a:xfrm>
          <a:prstGeom prst="rect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7362" y="1325880"/>
            <a:ext cx="349697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665A"/>
                </a:solidFill>
                <a:latin typeface="Calibri"/>
              </a:rPr>
              <a:t>Contable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7362" y="2011680"/>
            <a:ext cx="349697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Consulta cierres turno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Conciliación por medio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Diario por punto de venta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Asientos cierre jornada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5228" y="1143000"/>
            <a:ext cx="3716426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5228" y="1143000"/>
            <a:ext cx="3716426" cy="91440"/>
          </a:xfrm>
          <a:prstGeom prst="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4956" y="1325880"/>
            <a:ext cx="349697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911"/>
                </a:solidFill>
                <a:latin typeface="Calibri"/>
              </a:rPr>
              <a:t>Controles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2011680"/>
            <a:ext cx="349697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Conciliación diaria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Auditoría mes vs Anita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Alerta Informe Z faltante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Verificación CAEA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911"/>
                </a:solidFill>
                <a:latin typeface="Calibri"/>
              </a:rPr>
              <a:t>SECCIÓN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Facturación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3F0"/>
                </a:solidFill>
                <a:latin typeface="Calibri"/>
              </a:rPr>
              <a:t>Proceso de facturación: mesas, cuentas, fiscal, cobranza y post-venta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Proceso de facturación — pantalla principal del salón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Modo Mesas (plano) o Cuentas libres (sin mesa física).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Apertura de cuenta: cubiertos y mozo (obligatorios según config).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Carga de ítems por SKU o catálogo; opcionales de fórmula por orden.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Cliente de factura / consumidor final / datos manuales según IVA.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Cobranza multi-medio: efectivo, tarjetas, CTG, TOTEM (Waitry), etc.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Atajos: F5 factura (efectivo u otros medios) · F8 facturar con descuento.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Emisión fiscal ARCA: CAE / CAEA con failover y numeración.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Sincronización Anita; ticket / reimpresión desde Facturas del día.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Ruta: ventas/gastronomia/proceso-facturacion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Facturación — reglas y post-venta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577840" cy="50292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Calibri"/>
              </a:rPr>
              <a:t>Validaciones antes de emitir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Jornada abierta (si es obligatoria)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Turno habilitado en la PC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Config PV + depósitos + lista precios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PV fiscal CAE/CAEA vigente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Cuenta abierta con líneas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Cobranza = total (salvo cortesía)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Canjes premio/fidelidad → solo F8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Sin duplicar órdenes Waitry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577840" cy="50292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801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665A"/>
                </a:solidFill>
                <a:latin typeface="Calibri"/>
              </a:rPr>
              <a:t>Facturas del día y 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Consulta de comprobantes de la jornada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Ver canjes asociados (premio/tarjeta)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Reimprimir ticket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Generar nota de crédito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Cambiar medio de pago (permiso)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Base para arqueo y conciliación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Configuración y maestros que habilitan la facturación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37027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5B6"/>
                </a:solidFill>
                <a:latin typeface="Calibri"/>
              </a:rPr>
              <a:t>Punto de venta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Empresa / PC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PV CAE y CAEA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Lista de precios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Tipos de transacción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Depósitos venta/insumos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Waitry habilitado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8235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8235" y="1143000"/>
            <a:ext cx="2737027" cy="91440"/>
          </a:xfrm>
          <a:prstGeom prst="rect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7963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665A"/>
                </a:solidFill>
                <a:latin typeface="Calibri"/>
              </a:rPr>
              <a:t>Salón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963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Mesas + sync Anita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Ubicaciones / sectores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Mozos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Áreas de comanda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Turnos maestros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143000"/>
            <a:ext cx="2737027" cy="91440"/>
          </a:xfrm>
          <a:prstGeom prst="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911"/>
                </a:solidFill>
                <a:latin typeface="Calibri"/>
              </a:rPr>
              <a:t>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Descuentos / invitaciones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Categoría fidelidad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Cliente VIP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Tótems Waitry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627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627" y="1143000"/>
            <a:ext cx="2737027" cy="91440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355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844E"/>
                </a:solidFill>
                <a:latin typeface="Calibri"/>
              </a:rPr>
              <a:t>Fiscal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355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Pantalla ARCA CAEA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Failover CAE→CAEA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Verificación al cierre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Recuperación comprobantes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911"/>
                </a:solidFill>
                <a:latin typeface="Calibri"/>
              </a:rPr>
              <a:t>SECCIÓN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Informe de gerencia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3F0"/>
                </a:solidFill>
                <a:latin typeface="Calibri"/>
              </a:rPr>
              <a:t>Dashboard con gráficos reales · BIYEMAS · jornada 18/06/2026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Informe gerente — para qué sirve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Foto diaria por empresa y fecha de jornada: qué se vendió, dónde y en qué turno.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Incluye Waitry pagado aún sin facturar cuando la jornada está abierta.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Apoya decisiones de mix, descuentos, costos y compras del día.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Gráficos en pantalla: barras (top artículos día/mes) y tortas (turno, PV, descuentos, recepciones).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Visión gerencial sin entrar al POS.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Permiso: ver-informe-gerente-gastronomia · Ruta: ventas/gastronomia/informe-gerente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Pantalla del informe gerente</a:t>
            </a:r>
          </a:p>
        </p:txBody>
      </p:sp>
      <p:pic>
        <p:nvPicPr>
          <p:cNvPr id="4" name="Picture 3" descr="screenshot_info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1" y="1051560"/>
            <a:ext cx="702259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Captura de la herramienta en Anita ERP (filtros, totales y tablas Top 10).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KPI de jornada (dato real BIYEMAS 18/06/2026)</a:t>
            </a:r>
          </a:p>
        </p:txBody>
      </p:sp>
      <p:pic>
        <p:nvPicPr>
          <p:cNvPr id="4" name="Picture 3" descr="kpi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465897"/>
            <a:ext cx="8686800" cy="1731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Total neto de la jornada generado por el mismo servicio del informe gerente.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Mix de artículos — barras del informe</a:t>
            </a:r>
          </a:p>
        </p:txBody>
      </p:sp>
      <p:pic>
        <p:nvPicPr>
          <p:cNvPr id="4" name="Picture 3" descr="articulos_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7760"/>
            <a:ext cx="5623560" cy="3051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Top 10 cantidad — día</a:t>
            </a:r>
          </a:p>
        </p:txBody>
      </p:sp>
      <p:pic>
        <p:nvPicPr>
          <p:cNvPr id="6" name="Picture 5" descr="articulos_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7760"/>
            <a:ext cx="5623560" cy="3051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Top 10 cantidad — 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Distribución de ventas — tortas del informe</a:t>
            </a:r>
          </a:p>
        </p:txBody>
      </p:sp>
      <p:pic>
        <p:nvPicPr>
          <p:cNvPr id="4" name="Picture 3" descr="tur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8176"/>
            <a:ext cx="5623560" cy="425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Por turno</a:t>
            </a:r>
          </a:p>
        </p:txBody>
      </p:sp>
      <p:pic>
        <p:nvPicPr>
          <p:cNvPr id="6" name="Picture 5" descr="puntoven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06750"/>
            <a:ext cx="5623560" cy="42730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Por punto de venta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Descuentos y compras — tortas del informe</a:t>
            </a:r>
          </a:p>
        </p:txBody>
      </p:sp>
      <p:pic>
        <p:nvPicPr>
          <p:cNvPr id="4" name="Picture 3" descr="descu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17481"/>
            <a:ext cx="5623560" cy="4051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Facturas por código de descuento</a:t>
            </a:r>
          </a:p>
        </p:txBody>
      </p:sp>
      <p:pic>
        <p:nvPicPr>
          <p:cNvPr id="6" name="Picture 5" descr="recepciones_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26588"/>
            <a:ext cx="5623560" cy="3833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Recepciones Anita del día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Recepciones Anita — día vs mes</a:t>
            </a:r>
          </a:p>
        </p:txBody>
      </p:sp>
      <p:pic>
        <p:nvPicPr>
          <p:cNvPr id="4" name="Picture 3" descr="recepciones_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26588"/>
            <a:ext cx="5623560" cy="38334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Día — por proveedor</a:t>
            </a:r>
          </a:p>
        </p:txBody>
      </p:sp>
      <p:pic>
        <p:nvPicPr>
          <p:cNvPr id="6" name="Picture 5" descr="recepciones_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7769"/>
            <a:ext cx="5623560" cy="37910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6035040"/>
            <a:ext cx="5623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Mes — por proveedor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Bloques del informe gerente (resumen)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37027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5B6"/>
                </a:solidFill>
                <a:latin typeface="Calibri"/>
              </a:rPr>
              <a:t>Ventas y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Total neto jornada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Estado de jornada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Top 10 por cantidad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Top 10 por valor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Barras día vs 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8235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8235" y="1143000"/>
            <a:ext cx="2737027" cy="91440"/>
          </a:xfrm>
          <a:prstGeom prst="rect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7963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665A"/>
                </a:solidFill>
                <a:latin typeface="Calibri"/>
              </a:rPr>
              <a:t>Distribución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963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Torta por turno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Torta por PV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Facturas por descuento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Detalle PV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Detalle descuentos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143000"/>
            <a:ext cx="2737027" cy="91440"/>
          </a:xfrm>
          <a:prstGeom prst="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911"/>
                </a:solidFill>
                <a:latin typeface="Calibri"/>
              </a:rPr>
              <a:t>Costos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Top 20 precio venta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Costo Anita (stkpre)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Mes anterior vs actual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627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627" y="1143000"/>
            <a:ext cx="2737027" cy="91440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355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844E"/>
                </a:solidFill>
                <a:latin typeface="Calibri"/>
              </a:rPr>
              <a:t>Compras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355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Recepciones día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Recepciones mes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Por proveedor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Por centro de costo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911"/>
                </a:solidFill>
                <a:latin typeface="Calibri"/>
              </a:rPr>
              <a:t>SECCIÓN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Reportes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3F0"/>
                </a:solidFill>
                <a:latin typeface="Calibri"/>
              </a:rPr>
              <a:t>Descuentos integrados, analítico, ventas por artículos, insumos y más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Reporte de descuentos (integrado)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Análisis de invitaciones y descuentos aplicados en gastronomía.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Cruce por mozos, clientes VIP, clientes internos y códigos de descuento.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Totales y bloques exportables (PDF / Excel / CSV multi-hoja).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Útil para control de cortesías, abuso de descuentos y auditoría comercial.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Cache de consulta para reportes costosos; filtros por empresa y rango de jornada.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Ruta: ventas/gastronomia/descuento-reporte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Complementa la torta de descuentos del Informe gerente (detalle operativo vs dashboard).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Suite de reportes gastronomía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37027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5B6"/>
                </a:solidFill>
                <a:latin typeface="Calibri"/>
              </a:rPr>
              <a:t>Descuentos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Invitaciones / %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Por mozo y VIP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Export multi-bloque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descuento-reporte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8235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8235" y="1143000"/>
            <a:ext cx="2737027" cy="91440"/>
          </a:xfrm>
          <a:prstGeom prst="rect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7963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665A"/>
                </a:solidFill>
                <a:latin typeface="Calibri"/>
              </a:rPr>
              <a:t>Analítico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963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Líneas de venta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Costo y margen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Filtros inteligentes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Export PDF/Excel/CSV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143000"/>
            <a:ext cx="2737027" cy="91440"/>
          </a:xfrm>
          <a:prstGeom prst="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911"/>
                </a:solidFill>
                <a:latin typeface="Calibri"/>
              </a:rPr>
              <a:t>Ventas / artículos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Ventas por artículos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Artículos vendidos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Drill a facturas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Drill a mov.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627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627" y="1143000"/>
            <a:ext cx="2737027" cy="91440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355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844E"/>
                </a:solidFill>
                <a:latin typeface="Calibri"/>
              </a:rPr>
              <a:t>Insumos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355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Matriz tipo × día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Consumo proyectado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Ligado a fórmulas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insumos-tipoarticulo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911"/>
                </a:solidFill>
                <a:latin typeface="Calibri"/>
              </a:rPr>
              <a:t>SECCIÓN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Fórmulas de artículos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3F0"/>
                </a:solidFill>
                <a:latin typeface="Calibri"/>
              </a:rPr>
              <a:t>Recetas, costos, opcionales y consumo de insumos al vender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ABM de fórmulas (Stock → Fórmula artículo)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577840" cy="50292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Calibri"/>
              </a:rPr>
              <a:t>Qué se 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Artículo padre / código Anita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Cantidad de porciones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Líneas de insumos + factor costo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Subfórmulas anidadas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Ítems opcionales (AGG/CROWN)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Estados, adjuntos e historia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Export PDF / Excel /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577840" cy="50292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801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E665A"/>
                </a:solidFill>
                <a:latin typeface="Calibri"/>
              </a:rPr>
              <a:t>Integraciones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Sync desde Anita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Vínculo artículos por código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Costo última compra Anita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Artículos compra por insumo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Preview conversión mov. stock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7202A"/>
                </a:solidFill>
                <a:latin typeface="Calibri"/>
              </a:rPr>
              <a:t>•  Recálculo costos transferencias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Cálculo de costos y explosión en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Costo total de la fórmula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Σ (cantidad × factor × precio última compra), con explosión recursiva de subfórmulas.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Los opcionales elegidos impactan el costo mostrado en pantalla.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Consumo al facturar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Al emitir: baja el plato y los insumos según la fórmula.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Depósitos de venta e insumos según config del punto de venta.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Opcionales en el POS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El cliente elige opcionales por orden; se reflejan en stock y costo.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Reportes ligados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    •  Insumos por tipo de artículo · Artículos vendidos · Top 20 costos (informe gerente).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stock/formula-articulo + consumo en facturación gastronomía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911"/>
                </a:solidFill>
                <a:latin typeface="Calibri"/>
              </a:rPr>
              <a:t>SECCIÓN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Ecosistema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3F0"/>
                </a:solidFill>
                <a:latin typeface="Calibri"/>
              </a:rPr>
              <a:t>Waitry, canjes, viandas, vending y manuales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Waitry, canjes y verticales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37027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75B6"/>
                </a:solidFill>
                <a:latin typeface="Calibri"/>
              </a:rPr>
              <a:t>Waitry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ABM tótems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Órdenes en POS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Import por monitor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Cobro TOTEM auto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Informe Z al cierre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8235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8235" y="1143000"/>
            <a:ext cx="2737027" cy="91440"/>
          </a:xfrm>
          <a:prstGeom prst="rect">
            <a:avLst/>
          </a:prstGeom>
          <a:solidFill>
            <a:srgbClr val="0E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7963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665A"/>
                </a:solidFill>
                <a:latin typeface="Calibri"/>
              </a:rPr>
              <a:t>Canjes Wigos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963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Premio por cupón (F8)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Fidelidad tarjeta (F8)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Ticket CTG cobranza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Cliente VIP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Facturador marketing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Listado marketing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143000"/>
            <a:ext cx="2737027" cy="91440"/>
          </a:xfrm>
          <a:prstGeom prst="rect">
            <a:avLst/>
          </a:prstGeom>
          <a:solidFill>
            <a:srgbClr val="C0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5911"/>
                </a:solidFill>
                <a:latin typeface="Calibri"/>
              </a:rPr>
              <a:t>Viandas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Tipos de menú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Usuarios habilitados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Terminal marcha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Reporte / consumos 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627" y="1143000"/>
            <a:ext cx="2737027" cy="5074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627" y="1143000"/>
            <a:ext cx="2737027" cy="91440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355" y="1325880"/>
            <a:ext cx="2517571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844E"/>
                </a:solidFill>
                <a:latin typeface="Calibri"/>
              </a:rPr>
              <a:t>Vending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355" y="2011680"/>
            <a:ext cx="2517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ABM máquinas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Rendición ventas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Cierre contable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7202A"/>
                </a:solidFill>
                <a:latin typeface="Calibri"/>
              </a:rPr>
              <a:t>• Sync Anita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Manuales y documentación disponible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Manual de usuario Gastronomía (PDF/Word) — flujo diario, restricciones, Waitry/Wigos.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Manual Canjes Marketing — VIP y facturador de marketing.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Manual Vending — máquinas y rendiciones.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Diagrama ER del módulo (docs/gastronomia).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7202A"/>
                </a:solidFill>
                <a:latin typeface="Calibri"/>
              </a:rPr>
              <a:t>•  Ayuda en pantalla desde el menú del módulo.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Resumen — qué quedó construido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3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070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Gobierno diario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Jornada + turnos por PC + arqueo + PDFs + saneamiento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9728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3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070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Facturación 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3619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Mesas/cuentas, ARCA, cobranza, descuentos, canjes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0312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027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128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Autoservicio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Waitry tótem + conciliación Informe 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0312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128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Marketing / fidelidad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4203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Canjes premio, tarjeta, VIP y listados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10896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186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Costos y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5478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Fórmulas, opcionales y explosión de insumos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0896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461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186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Informe gerente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5478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Dashboard diario: mix, turnos, costos, compras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11480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519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2452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Reportes gestión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537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Descuentos, analítico, ventas, insumos, artículos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11480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519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2452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Caja / contable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5537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Rendiciones, asientos, conciliaciones, auditorías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12064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2578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303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Verticales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5595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Viandas y máquinas vending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120640"/>
            <a:ext cx="5669280" cy="868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2578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Calibri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303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202A"/>
                </a:solidFill>
                <a:latin typeface="Calibri"/>
              </a:rPr>
              <a:t>Maestros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5595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7E"/>
                </a:solidFill>
                <a:latin typeface="Calibri"/>
              </a:rPr>
              <a:t>PV, mesas, mozos, descuentos, turnos, áreas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Anita ERP  ·  Módulo Gastronomía  ·  Desarrollo completo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